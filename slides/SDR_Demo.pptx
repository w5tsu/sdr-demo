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5D0BA"/>
                </a:solidFill>
                <a:latin typeface="Calibri"/>
              </a:rPr>
              <a:t>SOFTWARE DEFINED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From Bits to Airwaves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A live demo with GNU Radio Companion, a HackRF One, and a 144/440 MHz handheld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34340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The Airwaves: 3 Hz – 3 THz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D7E3EC"/>
                </a:solidFill>
                <a:latin typeface="Calibri"/>
              </a:rPr>
              <a:t>By international convention (ITU), everything humans use for wireless communication -- from submarine navigation to satellite links -- lives somewhere in this range. Twelve decades, back to back, and every one of them is already spoken for.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69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SLF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3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VLF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7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1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559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VHF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03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35D0BA"/>
          </a:solidFill>
          <a:ln w="19050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0A1929"/>
                </a:solidFill>
                <a:latin typeface="Calibri"/>
              </a:rPr>
              <a:t>UHF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47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SHF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991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EHF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13567" y="2788920"/>
            <a:ext cx="822960" cy="868680"/>
          </a:xfrm>
          <a:prstGeom prst="roundRect">
            <a:avLst>
              <a:gd name="adj" fmla="val 15000"/>
            </a:avLst>
          </a:prstGeom>
          <a:solidFill>
            <a:srgbClr val="0F2438"/>
          </a:solidFill>
          <a:ln w="952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37947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0">
                <a:solidFill>
                  <a:srgbClr val="8EA7BA"/>
                </a:solidFill>
                <a:latin typeface="Calibri"/>
              </a:rPr>
              <a:t>3 THz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8EA7BA"/>
                </a:solidFill>
                <a:latin typeface="Calibri"/>
              </a:rPr>
              <a:t>Each band spans one decade -- band N runs 0.3×10ᴺ Hz to 3×10ᴺ Hz.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89204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500" b="1">
                <a:solidFill>
                  <a:srgbClr val="35D0BA"/>
                </a:solidFill>
                <a:latin typeface="Calibri"/>
              </a:rPr>
              <a:t>Tonight lives here: VHF / UHF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235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2m (144-148 MHz) and 70cm (420-450 MHz) -- our ham bands -- plus FM broadcast (88-108 MHz), all three narrow slivers of one 270:1 span (30 MHz-3 GHz).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ITU Radio Regulations, Article 2 -- band designations ELF-THF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BEFORE WE TOUCH THE RADIO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Every Signal Arrives Already Mixed With Noise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From Nature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Thermal noise: the atoms in your receiver's own components are vibrating with heat -- that's noise, before an antenna is even involved.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Modeled as Gaussian / "white" noise -- flat across the whole band. That's the hiss you hear with nothing tuned 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Lightning sferics: crackly pops from distant thunderstorms, audible from VLF up through HF.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Ionized meteor trails briefly reflect distant signals into a receiver -- noise and signal from the same natural event.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212080" cy="379476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0574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Noise We Make Ourselves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514600"/>
            <a:ext cx="4572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switching power supply, phone charger, and LED driver in this room is radiating RF -- one of the most common interference sources hams fight.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USB 3.0 leaks clock noise at multiples of 480 MHz; HDMI cables can splatter interference across roughly 148-742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Monitors, DisplayPort, powerline networking adapters -- all of it adds more.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None of it is malicious. It's just what happens when fast digital clocks run next to a receiver.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35D0BA"/>
                </a:solidFill>
                <a:latin typeface="Calibri"/>
              </a:rPr>
              <a:t>Every demo tonight starts here: find the signal you want inside everything else that's already there. Watch the noise floor on the very first demo -- it's not empty.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pysdr.org (Ch. 10, Noise and Random Variables) and sigidwiki.com (Interfering Emissions category)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Is Software Defined Radio?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309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Traditional radios: filtering, mixing, and demodulation are done by dedicated analog/digital hardware built for one job.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SDR: an antenna feeds a wideband ADC/DAC, and everything after that -- tuning, filtering, demodulating, decoding -- happens in software.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Same box, endless radios: change the software, not the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Today's demo does this literally -- one HackRF, six different “radios,” just by loading a different flowgraph.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24028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Antenna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Analog RF in/out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9235440" y="310896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0" y="333756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ADC / DAC
(HackRF)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Samples ↔ RF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9235440" y="4206240"/>
            <a:ext cx="274320" cy="228600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0" y="4434840"/>
            <a:ext cx="3383280" cy="86868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1600" rIns="1016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Software
(GNU Radio)</a:t>
            </a:r>
          </a:p>
          <a:p>
            <a:pPr algn="ctr"/>
            <a:r>
              <a:rPr sz="1100">
                <a:solidFill>
                  <a:srgbClr val="8EA7BA"/>
                </a:solidFill>
                <a:latin typeface="Calibri"/>
              </a:rPr>
              <a:t>Filter · demod · decode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Core Specs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1 MHz – 6 GHz tuning range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Up to 20 Msps, 8-bit quadrature ADC/DAC (8-bit I, 8-bit Q)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Half-duplex (RX or TX, never both at once)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Hi-Speed USB 2.0, USB-powered, open source hardware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This talk: driven via SoapySDR from GNU Radio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35D0BA"/>
                </a:solidFill>
                <a:latin typeface="Calibri"/>
              </a:rPr>
              <a:t>TX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Two software-controlled TX gain stages -- no physical knobs: an on/off RF amp (~+11 dB) and a VGA/IF gain stage, 0-47 dB in 1 dB steps.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Max output power varies with frequency -- roughly +5 to +15 dBm from 1 MHz-2.17 GHz, dropping to about 0-10 dBm up through 4 GHz. Best performance is actually 2170-2740 MHz.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Tonight's TX demos default to just 10 dB of VGA gain -- comfortably at the low end, per the "minimum power necessary" guidance.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 built-in per-band TX filtering -- it's a general-purpose transmitter, so staying inside our allocated ham segments is on 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Sources: hackrf.readthedocs.io, greatscottgadgets.com/hackrf/one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 + GNU Radio Companion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126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Radio: open-source DSP toolkit -- filters, modulators, demodulators, resamplers, all as reusable building blocks.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GNU Radio Companion (GRC): drag-and-drop flowgraph editor that generates the underlying Python for you.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SoapySDR: hardware abstraction layer -- the same flowgraph blocks work whether it's a HackRF, RTL-SDR, LimeSDR, or others.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 flowgraph in this demo is a plain-text .grc file -- versionable, diffable, shareable.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920240"/>
            <a:ext cx="4297680" cy="393192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21488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8EA7BA"/>
                </a:solidFill>
                <a:latin typeface="Calibri"/>
              </a:rPr>
              <a:t>Toolchain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43800" y="2606040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Flowgraph (.grc)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9262872" y="3172968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43800" y="3319272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Companion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262872" y="3886200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43800" y="4032504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Generated Python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9262872" y="4599432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43800" y="4745736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GNU Radio runtime + SoapySDR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9262872" y="5312664"/>
            <a:ext cx="219456" cy="146304"/>
          </a:xfrm>
          <a:prstGeom prst="down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543800" y="5458968"/>
            <a:ext cx="3657600" cy="566928"/>
          </a:xfrm>
          <a:prstGeom prst="roundRect">
            <a:avLst>
              <a:gd name="adj" fmla="val 2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HackRF 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5 / 21</a:t>
            </a:r>
          </a:p>
        </p:txBody>
      </p:sp>
      <p:pic>
        <p:nvPicPr>
          <p:cNvPr id="20" name="Picture 19" descr="gnuradi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544" y="219456"/>
            <a:ext cx="3346704" cy="1673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CORE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Reading a Flowgraph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Blocks are connected left to right: a Source produces samples, middle blocks process them, a Sink consumes them.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Everything on the RF side flows as complex IQ samples -- one number for signal strength/phase in two dimensions (I and Q), captured at the sample rate.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D7E3EC"/>
                </a:solidFill>
                <a:latin typeface="Calibri"/>
              </a:rPr>
              <a:t>•  Sample rate sets your instantaneous bandwidth: capture at 6 Msps and you're watching 6 MHz of spectrum at once, not just one channel.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02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HackRF
Source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0974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1266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Filter /
Resample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4438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4730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0F243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Demodulate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79027" y="4553712"/>
            <a:ext cx="502920" cy="310896"/>
          </a:xfrm>
          <a:prstGeom prst="rightArrow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4206240"/>
            <a:ext cx="2331720" cy="1005840"/>
          </a:xfrm>
          <a:prstGeom prst="roundRect">
            <a:avLst>
              <a:gd name="adj" fmla="val 12000"/>
            </a:avLst>
          </a:prstGeom>
          <a:solidFill>
            <a:srgbClr val="1B5E58"/>
          </a:solidFill>
          <a:ln w="15875">
            <a:solidFill>
              <a:srgbClr val="35D0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Audio / File
Sink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6 / 21</a:t>
            </a:r>
          </a:p>
        </p:txBody>
      </p:sp>
      <p:pic>
        <p:nvPicPr>
          <p:cNvPr id="16" name="Picture 15" descr="grc_flowgraph_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73736"/>
            <a:ext cx="4754880" cy="1499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EA7BA"/>
                </a:solidFill>
                <a:latin typeface="Calibri"/>
              </a:rPr>
              <a:t>DEMO 0  ·  ICEBREAKER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FM Broadcast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quick tune to any strong local FM station brings music through the laptop speakers, instantly.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a ham-band demo -- it proves the whole chain works (driver, HackRF, GNU Radio, audio out) before the ham material, and it needs no license to receive.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Live Spectrum &amp; Waterfall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flowgraph covers both ham bands -- we'll retune live between 2m and 70cm.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Watch the spectrum plot and waterfall light up in real time as a handheld transmission appears.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It's the same slice of RF spectrum a traditional radio can only look at one narrow channel of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Tunable NBFM Voice Receiver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1371600" cy="320040"/>
          </a:xfrm>
          <a:prstGeom prst="roundRect">
            <a:avLst>
              <a:gd name="adj" fmla="val 50000"/>
            </a:avLst>
          </a:prstGeom>
          <a:solidFill>
            <a:srgbClr val="1B5E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35D0BA"/>
                </a:solidFill>
                <a:latin typeface="Calibri"/>
              </a:rPr>
              <a:t>RECEIVE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real narrowband FM voice receiver -- channel filter, resampler, FM demodulator, straight to the speakers.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Tuned to 146.520 MHz, the national 2m simplex calling frequency.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whole receiver -- normally a dedicated chip in an off-the-shelf radio -- is about a dozen blocks of software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4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FB020"/>
                </a:solidFill>
                <a:latin typeface="Calibri"/>
              </a:rPr>
              <a:t>⚠  BEFORE WE TRANSMIT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Part 97 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A licensed control operator is present the entire time we transmit.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We identify with callsign at the start/end and every 10 minutes.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music, no broadcast content -- a brief, identified test transmission only.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Power stays at the minimum needed -- TX gain starts low and only comes up as far as the demo needs.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00">
                <a:solidFill>
                  <a:srgbClr val="F3E3C7"/>
                </a:solidFill>
                <a:latin typeface="Calibri"/>
              </a:rPr>
              <a:t>•  No control operator today, or want zero on-air emission? The HackRF TX port can go into a dummy load instead of an antenna -- same demo, nothing radiated.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 · THE HEADLINE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Record the Entire 2m Band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Tunes to 146.0 MHz center at 6 Msps -- covers 143.0 to 149.0 MHz, the whole 144-148 MHz 2m band with margin to spare.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Not one channel -- every signal on the entire band, captured at once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Raw IQ, written to a self-describing file (sample rate + center frequency saved in the header)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 single recording captures everything transmitted on the band during that window -- roughly 2.9 GB per minute at this sample rate.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3B · 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...And Play It Back Over the Air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05840" cy="508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SEE NEXT SLIDE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Reads the file back and feeds it straight into the HackRF's transmitter -- the exact recorded band reappears on the air.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waterfall reproduces exactly what was captured; the handheld hears the same signal a second time, live.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is the moment that makes SDR click: the recording *is* the radio signal -- numbers on disk, transmitted back as RF.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B020"/>
                </a:solidFill>
                <a:latin typeface="Calibri"/>
              </a:rPr>
              <a:t>DEMO 4  ·  OPTIONAL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NBFM Voice Transmitter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4A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200" b="1">
                <a:solidFill>
                  <a:srgbClr val="FFB020"/>
                </a:solidFill>
                <a:latin typeface="Calibri"/>
              </a:rPr>
              <a:t>TRANSMITS — CONTROL OP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reverse direction: laptop microphone → NBFM modulator → HackRF → antenna.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Live two-way on the same 146.520 MHz simplex frequency as Demo 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THE SOFTWARE, REVISITED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GNU Radio: What It Is, How It's Used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What It Actually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Started in 2001 (Eric Blossom); now stewarded by the GNU Radio Project and the GNU Radio Foundation.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C++ underneath for real-time DSP performance; Python (and GNU Radio Companion) on top for building and scripting flowgraphs.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A scheduler manages sample buffers between blocks -- the same runtime whether the samples are live from a HackRF or read back from a file.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Hundreds of built-in blocks -- filters, modulators, channel coding, synchronization -- plus a large ecosystem of out-of-tree (OOT) modules for specific protocols.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How We Used It Tonight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Every demo was the same runtime, different flowgraph -- GRC just generates the Python self.connect(...) calls behind those block diagrams.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SoapySDR blocks are what actually talked to the HackRF -- swap that one block and the same flowgraph can drive different hardware.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Nothing here was compiled or flashed -- editing a flowgraph and rerunning it is the entire iteration loop.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>
                <a:solidFill>
                  <a:srgbClr val="D7E3EC"/>
                </a:solidFill>
                <a:latin typeface="Calibri"/>
              </a:rPr>
              <a:t>•  The .grc files themselves are plain text -- that's why this whole demo kit lives in a git repo.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EA7BA"/>
                </a:solidFill>
                <a:latin typeface="Calibri"/>
              </a:rPr>
              <a:t>Source: gnuradio.org -- GNU Radio Conference (GRCon) happens every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BEYOND TONIGHT'S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Connecting GNU Radio to Other Radios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Other SDRs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Same GRC blocks, different hardware -- SoapySDR supports RTL-SDR, LimeSDR, PlutoSDR, Airspy, SDRplay, and more through one common driver API.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USRP hardware typically goes through UHD instead -- GNU Radio ships dedicated UHD blocks for it.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Swapping hardware is usually a one-block change in the flowgraph, not a redesign.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20240"/>
            <a:ext cx="5212080" cy="4114800"/>
          </a:xfrm>
          <a:prstGeom prst="roundRect">
            <a:avLst>
              <a:gd name="adj" fmla="val 4000"/>
            </a:avLst>
          </a:prstGeom>
          <a:solidFill>
            <a:srgbClr val="0F2438"/>
          </a:solidFill>
          <a:ln w="12700">
            <a:solidFill>
              <a:srgbClr val="1B5E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48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35D0BA"/>
                </a:solidFill>
                <a:latin typeface="Calibri"/>
              </a:rPr>
              <a:t>Analog / Non-SDR Radios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0604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Audio interface: a USB sound card wired to a radio's mic/speaker (or data) port runs digital modes -- APRS, PSK31, and more -- through a normal transceiver, no RF-direct hardware needed.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Rig control (CAT): Hamlib-based blocks let a flowgraph key PTT and set frequency on a physical radio over serial/USB.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600">
                <a:solidFill>
                  <a:srgbClr val="D7E3EC"/>
                </a:solidFill>
                <a:latin typeface="Calibri"/>
              </a:rPr>
              <a:t>•  Direct RF coupling: exactly what tonight's demo did -- the SDR transmits or receives over the air, and the other radio just needs an antenna.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Tonight only used one SDR and one handheld over RF -- the same tools bridge to almost anything with an antenna or an audio jack.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Just Happened, Technically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One piece of hardware -- the same HackRF -- was an FM radio, a spectrum analyzer, a repeater receiver, a wideband recorder, and a voice transceiver, in the same 20 minutes.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only thing that changed between demos was which flowgraph was loaded -- no soldering, no new hardware.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The recording in Demo 3 wasn't a simulation of the 2m band -- it was the actual RF, represented as numbers, played back as actual RF.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That's the whole idea of “software defined”: the radio is defined by the software running on general-purpose hardware, not by purpose-built circuitry.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More Demo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Quick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CTCSS/PL tone squelch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CW (Morse) ID transmitter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RDS decode from FM broadcast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APRS decode (144.390 MHz)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74519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5D0BA"/>
                </a:solidFill>
                <a:latin typeface="Calibri"/>
              </a:rPr>
              <a:t>Bigger swings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8600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WSPR / FT8 weak-signal decode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ADS-B aircraft tracking (1090 MHz)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Cross-band digital repeater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700">
                <a:solidFill>
                  <a:srgbClr val="D7E3EC"/>
                </a:solidFill>
                <a:latin typeface="Calibri"/>
              </a:rPr>
              <a:t>•  Digital voice (DMR / D-STAR)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8EA7BA"/>
                </a:solidFill>
                <a:latin typeface="Calibri"/>
              </a:rPr>
              <a:t>Full writeup with effort/dependency notes: BRAINSTORM.md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Specs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Frequency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024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 MHz – 6 GHz (HackRF One)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87168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8716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Sample rate used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48716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2–10 Msps depending on demo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54096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54096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054096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144.000 – 148.000 MHz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21024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21024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70cm band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621024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420.000 – 450.000 MHz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187952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87952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2m simplex calling freq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187952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146.520 MHz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54880"/>
            <a:ext cx="10881360" cy="566928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54880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Demo 3 capture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754880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146.0 MHz center @ 6 Msps ≈ 2.9 GB/min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21808"/>
            <a:ext cx="10881360" cy="566928"/>
          </a:xfrm>
          <a:prstGeom prst="rect">
            <a:avLst/>
          </a:prstGeom>
          <a:solidFill>
            <a:srgbClr val="0F24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321808"/>
            <a:ext cx="4114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35D0BA"/>
                </a:solidFill>
                <a:latin typeface="Calibri"/>
              </a:rPr>
              <a:t>HackRF TX power (typical)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5321808"/>
            <a:ext cx="61264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D7E3EC"/>
                </a:solidFill>
                <a:latin typeface="Calibri"/>
              </a:rPr>
              <a:t>≈ 10–15 dBm max, kept low for these demos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5D0BA"/>
                </a:solidFill>
                <a:latin typeface="Calibri"/>
              </a:rP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Go Build Something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GNU Radio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gnuradio.org — the toolkit, docs, and tutorials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HackRF One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greatscottgadgets.com/hackrf — hardware + firmware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SoapySDR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github.com/pothosware/SoapySDR — the hardware abstraction layer used today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ARRL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arrl.org — licensing info and Part 97 reference</a:t>
            </a:r>
          </a:p>
          <a:p>
            <a:pPr>
              <a:lnSpc>
                <a:spcPct val="112000"/>
              </a:lnSpc>
              <a:spcAft>
                <a:spcPts val="1800"/>
              </a:spcAft>
            </a:pPr>
            <a:r>
              <a:rPr sz="1900">
                <a:solidFill>
                  <a:srgbClr val="D7E3EC"/>
                </a:solidFill>
                <a:latin typeface="Calibri"/>
              </a:rPr>
              <a:t>•  This kit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8EA7BA"/>
                </a:solidFill>
                <a:latin typeface="Calibri"/>
              </a:rPr>
              <a:t>–  All flowgraphs, README, and brainstorm doc are in this repo’s flowgraphs/ and top-level README.md / BRAINSTORM.md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SDR Demo -- GNU Radio + HackRF + Ham Handheld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EA7BA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657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D7E3EC"/>
                </a:solidFill>
                <a:latin typeface="Calibri"/>
              </a:rPr>
              <a:t>Questions? Let's get on the air.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206240"/>
            <a:ext cx="1280160" cy="50800"/>
          </a:xfrm>
          <a:prstGeom prst="rect">
            <a:avLst/>
          </a:prstGeom>
          <a:solidFill>
            <a:srgbClr val="35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8EA7BA"/>
                </a:solidFill>
                <a:latin typeface="Calibri"/>
              </a:rPr>
              <a:t>Mark Grennan  •  W5TSU  •  mark@grennan.com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