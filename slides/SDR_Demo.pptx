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D0BA"/>
                </a:solidFill>
                <a:latin typeface="Calibri"/>
              </a:rPr>
              <a:t>SOFTWARE DEFINED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From Bits to Airwaves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D7E3EC"/>
                </a:solidFill>
                <a:latin typeface="Calibri"/>
              </a:rPr>
              <a:t>A live demo with GNU Radio Companion, a HackRF One, and a 144/440 MHz handheld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4343400"/>
            <a:ext cx="128016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A7BA"/>
                </a:solidFill>
                <a:latin typeface="Calibri"/>
              </a:rPr>
              <a:t>Mark Grennan  •  W5TSU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The Airwaves: 3 Hz – 3 THz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D7E3EC"/>
                </a:solidFill>
                <a:latin typeface="Calibri"/>
              </a:rPr>
              <a:t>By international convention (ITU), everything humans use for wireless communication -- from submarine navigation to satellite links -- lives somewhere in this range. Twelve decades, back to back, and every one of them is already spoken for.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ELF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69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SLF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839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ULF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83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VLF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27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27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1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559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35D0BA"/>
          </a:solidFill>
          <a:ln w="19050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A1929"/>
                </a:solidFill>
                <a:latin typeface="Calibri"/>
              </a:rPr>
              <a:t>VHF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03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35D0BA"/>
          </a:solidFill>
          <a:ln w="19050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A1929"/>
                </a:solidFill>
                <a:latin typeface="Calibri"/>
              </a:rPr>
              <a:t>UHF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847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SHF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99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EHF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13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THF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947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8EA7BA"/>
                </a:solidFill>
                <a:latin typeface="Calibri"/>
              </a:rPr>
              <a:t>3 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37947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8EA7BA"/>
                </a:solidFill>
                <a:latin typeface="Calibri"/>
              </a:rPr>
              <a:t>3 THz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43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8EA7BA"/>
                </a:solidFill>
                <a:latin typeface="Calibri"/>
              </a:rPr>
              <a:t>Each band spans one decade -- band N runs 0.3×10ᴺ Hz to 3×10ᴺ Hz.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66160" y="4892040"/>
            <a:ext cx="5029200" cy="41148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500" b="1">
                <a:solidFill>
                  <a:srgbClr val="35D0BA"/>
                </a:solidFill>
                <a:latin typeface="Calibri"/>
              </a:rPr>
              <a:t>Tonight lives here: VHF / UHF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486400"/>
            <a:ext cx="9235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2m (144-148 MHz) and 70cm (420-450 MHz) -- our ham bands -- plus FM broadcast (88-108 MHz), all three narrow slivers of one 270:1 span (30 MHz-3 GHz).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ITU Radio Regulations, Article 2 -- band designations ELF-THF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Every Signal Arrives Already Mixed With Noise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212080" cy="379476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Noise From Nature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Thermal noise: the atoms in your receiver's own components are vibrating with heat -- that's noise, before an antenna is even involved.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Modeled as Gaussian / "white" noise -- flat across the whole band. That's the hiss you hear with nothing tuned in.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Lightning sferics: crackly pops from distant thunderstorms, audible from VLF up through HF.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Ionized meteor trails briefly reflect distant signals into a receiver -- noise and signal from the same natural event.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28800"/>
            <a:ext cx="5212080" cy="379476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057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Noise We Make Ourselves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514600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Every switching power supply, phone charger, and LED driver in this room is radiating RF -- one of the most common interference sources hams fight.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USB 3.0 leaks clock noise at multiples of 480 MHz; HDMI cables can splatter interference across roughly 148-742 MHz.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Monitors, DisplayPort, powerline networking adapters -- all of it adds more.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None of it is malicious. It's just what happens when fast digital clocks run next to a receiver.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8813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35D0BA"/>
                </a:solidFill>
                <a:latin typeface="Calibri"/>
              </a:rPr>
              <a:t>Every demo tonight starts here: find the signal you want inside everything else that's already there. Watch the noise floor on the very first demo -- it's not empty.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Sources: pysdr.org (Ch. 10, Noise and Random Variables) and sigidwiki.com (Interfering Emissions category)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What Is Software Defined Radio?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309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Traditional radios: filtering, mixing, and demodulation are done by dedicated analog/digital hardware built for one job.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SDR: an antenna feeds a wideband ADC/DAC, and everything after that -- tuning, filtering, demodulating, decoding -- happens in software.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Same box, endless radios: change the software, not the hardware.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Today's demo does this literally -- one HackRF, six different “radios,” just by loading a different flowgraph.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920240"/>
            <a:ext cx="4297680" cy="393192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224028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Antenna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Analog RF in/out</a:t>
            </a:r>
          </a:p>
        </p:txBody>
      </p:sp>
      <p:sp>
        <p:nvSpPr>
          <p:cNvPr id="9" name="Down Arrow 8"/>
          <p:cNvSpPr/>
          <p:nvPr/>
        </p:nvSpPr>
        <p:spPr>
          <a:xfrm>
            <a:off x="9235440" y="3108960"/>
            <a:ext cx="274320" cy="228600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0" y="333756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ADC / DAC
(HackRF)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Samples ↔ RF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9235440" y="4206240"/>
            <a:ext cx="274320" cy="228600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0" y="443484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Software
(GNU Radio)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Filter · demod · decode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3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HackRF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35D0BA"/>
                </a:solidFill>
                <a:latin typeface="Calibri"/>
              </a:rPr>
              <a:t>Core Specs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1 MHz – 6 GHz tuning range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Up to 20 Msps, 8-bit quadrature ADC/DAC (8-bit I, 8-bit Q)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Half-duplex (RX or TX, never both at once)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Hi-Speed USB 2.0, USB-powered, open source hardware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This talk: driven via SoapySDR from GNU Radio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35D0BA"/>
                </a:solidFill>
                <a:latin typeface="Calibri"/>
              </a:rPr>
              <a:t>TX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Two software-controlled TX gain stages -- no physical knobs: an on/off RF amp (~+11 dB) and a VGA/IF gain stage, 0-47 dB in 1 dB steps.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Max output power varies with frequency -- roughly +5 to +15 dBm from 1 MHz-2.17 GHz, dropping to about 0-10 dBm up through 4 GHz. Best performance is actually 2170-2740 MHz.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Tonight's TX demos default to just 10 dB of VGA gain -- comfortably at the low end, per the "minimum power necessary" guidance.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No built-in per-band TX filtering -- it's a general-purpose transmitter, so staying inside our allocated ham segments is on 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Sources: hackrf.readthedocs.io, greatscottgadgets.com/hackrf/one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4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GNU Radio + GNU Radio Companion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126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GNU Radio: open-source DSP toolkit -- filters, modulators, demodulators, resamplers, all as reusable building blocks.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GNU Radio Companion (GRC): drag-and-drop flowgraph editor that generates the underlying Python for you.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SoapySDR: hardware abstraction layer -- the same flowgraph blocks work whether it's a HackRF, RTL-SDR, LimeSDR, or others.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Every flowgraph in this demo is a plain-text .grc file -- versionable, diffable, shareable.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920240"/>
            <a:ext cx="4297680" cy="393192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21488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A7BA"/>
                </a:solidFill>
                <a:latin typeface="Calibri"/>
              </a:rPr>
              <a:t>Toolchain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2606040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Flowgraph (.grc)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9262872" y="3172968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43800" y="3319272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GNU Radio Companion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262872" y="3886200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543800" y="4032504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Generated Python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9262872" y="4599432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43800" y="4745736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GNU Radio runtime + SoapySDR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9262872" y="5312664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543800" y="5458968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HackRF 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5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CORE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Reading a Flowgraph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Blocks are connected left to right: a Source produces samples, middle blocks process them, a Sink consumes them.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Everything on the RF side flows as complex IQ samples -- one number for signal strength/phase in two dimensions (I and Q), captured at the sample rate.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Sample rate sets your instantaneous bandwidth: capture at 6 Msps and you're watching 6 MHz of spectrum at once, not just one channel.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02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HackRF
Source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0974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1266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Filter /
Resample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4438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4730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Demodulate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7902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Audio / File
Sink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6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EA7BA"/>
                </a:solidFill>
                <a:latin typeface="Calibri"/>
              </a:rPr>
              <a:t>DEMO 0  ·  ICEBREAKER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FM Broadcast Receiver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quick tune to any strong local FM station brings music through the laptop speakers, instantly.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Not a ham-band demo -- it proves the whole chain works (driver, HackRF, GNU Radio, audio out) before the ham material, and it needs no license to receive.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7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Live Spectrum &amp; Waterfall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One flowgraph covers both ham bands -- we'll retune live between 2m and 70cm.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Watch the spectrum plot and waterfall light up in real time as a handheld transmission appears.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It's the same slice of RF spectrum a traditional radio can only look at one narrow channel of at a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8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Tunable NBFM Voice Receiver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real narrowband FM voice receiver -- channel filter, resampler, FM demodulator, straight to the speakers.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Tuned to 146.520 MHz, the national 2m simplex calling frequency.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whole receiver -- normally a dedicated chip in an off-the-shelf radio -- is about a dozen blocks of software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9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3 · THE HEADLINE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Record the Entire 2m Band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Tunes to 146.0 MHz center at 6 Msps -- covers 143.0 to 149.0 MHz, the whole 144-148 MHz 2m band with margin to spare.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Not one channel -- every signal on the entire band, captured at once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Raw IQ, written to a self-describing file (sample rate + center frequency saved in the header)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single recording captures everything transmitted on the band during that window -- roughly 2.9 GB per minute at this sample rate.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3B · THE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...And Play It Back Over the 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4A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FFB020"/>
                </a:solidFill>
                <a:latin typeface="Calibri"/>
              </a:rPr>
              <a:t>TRANSMITS — SEE NEXT SLIDE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Reads the file back and feeds it straight into the HackRF's transmitter -- the exact recorded band reappears on the air.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waterfall reproduces exactly what was captured; the handheld hears the same signal a second time, live.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is the moment that makes SDR click: the recording *is* the radio signal -- numbers on disk, transmitted back as RF.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11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B020"/>
                </a:solidFill>
                <a:latin typeface="Calibri"/>
              </a:rPr>
              <a:t>⚠  BEFORE WE TRANSMIT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Part 97 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A licensed control operator is present the entire time we transmit.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We identify with callsign at the start/end and every 10 minutes.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No music, no broadcast content -- a brief, identified test transmission only.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Power stays at the minimum needed -- TX gain starts low and only comes up as far as the demo needs.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No control operator today, or want zero on-air emission? The HackRF TX port can go into a dummy load instead of an antenna -- same demo, nothing radiated.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12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4  ·  OPTIONAL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NBFM Voice Transmitter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2286000" cy="320040"/>
          </a:xfrm>
          <a:prstGeom prst="roundRect">
            <a:avLst>
              <a:gd name="adj" fmla="val 50000"/>
            </a:avLst>
          </a:prstGeom>
          <a:solidFill>
            <a:srgbClr val="4A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FFB020"/>
                </a:solidFill>
                <a:latin typeface="Calibri"/>
              </a:rPr>
              <a:t>TRANSMITS — CONTROL OP 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reverse direction: laptop microphone → NBFM modulator → HackRF → antenna.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Live two-way on the same 146.520 MHz simplex frequency as Demo 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What Just Happened, Technically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One piece of hardware -- the same HackRF -- was an FM radio, a spectrum analyzer, a repeater receiver, a wideband recorder, and a voice transceiver, in the same 20 minutes.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only thing that changed between demos was which flowgraph was loaded -- no soldering, no new hardware.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recording in Demo 3 wasn't a simulation of the 2m band -- it was the actual RF, represented as numbers, played back as actual RF.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That's the whole idea of “software defined”: the radio is defined by the software running on general-purpose hardware, not by purpose-built circuitry.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14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WHERE THIS GOES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More Demo Ideas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Quick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CTCSS/PL tone squelch decode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CW (Morse) ID transmitter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RDS decode from FM broadcast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APRS decode (144.390 MHz)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74519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Bigger swings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8600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WSPR / FT8 weak-signal decode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ADS-B aircraft tracking (1090 MHz)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Cross-band digital repeater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Digital voice (DMR / D-STAR)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8EA7BA"/>
                </a:solidFill>
                <a:latin typeface="Calibri"/>
              </a:rPr>
              <a:t>Full writeup with effort/dependency notes: BRAINSTORM.md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Specs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Frequency 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920240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 MHz – 6 GHz (HackRF One)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8716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Sample rate used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487168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2–10 Msps depending on demo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54096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2m band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054096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144.000 – 148.000 MHz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621024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21024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70cm band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621024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420.000 – 450.000 MHz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187952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87952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2m simplex calling freq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187952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146.520 MHz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754880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75488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Demo 3 capture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4754880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146.0 MHz center @ 6 Msps ≈ 2.9 GB/min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321808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32180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HackRF TX power (typical)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5321808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≈ 10–15 dBm max, kept low for these demos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16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Go Build Something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GNU Radio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gnuradio.org — the toolkit, docs, and tutorials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HackRF One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greatscottgadgets.com/hackrf — hardware + firmware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SoapySDR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github.com/pothosware/SoapySDR — the hardware abstraction layer used today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ARRL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arrl.org — licensing info and Part 97 reference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kit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All flowgraphs, README, and brainstorm doc are in this repo’s flowgraphs/ and top-level README.md / BRAINSTORM.md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17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D7E3EC"/>
                </a:solidFill>
                <a:latin typeface="Calibri"/>
              </a:rPr>
              <a:t>Questions? Let's get on the air.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206240"/>
            <a:ext cx="128016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A7BA"/>
                </a:solidFill>
                <a:latin typeface="Calibri"/>
              </a:rPr>
              <a:t>Mark Grennan  •  W5TSU  •  mark@grennan.com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